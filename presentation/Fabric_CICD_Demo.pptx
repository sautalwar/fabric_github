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050"/>
                </a:solidFill>
                <a:latin typeface="Aptos"/>
              </a:rPr>
              <a:t>Microsoft Fabric — SDLC &amp; CI/CD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78D4"/>
                </a:solidFill>
                <a:latin typeface="Aptos"/>
              </a:rPr>
              <a:t>Automated deployment across Dev → UAT → Prod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471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0" y="1417320"/>
            <a:ext cx="3566160" cy="594360"/>
          </a:xfrm>
          <a:prstGeom prst="roundRect">
            <a:avLst/>
          </a:prstGeom>
          <a:solidFill>
            <a:srgbClr val="50E6FF"/>
          </a:solidFill>
          <a:ln w="19050">
            <a:solidFill>
              <a:srgbClr val="50E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200" b="1">
                <a:solidFill>
                  <a:srgbClr val="002050"/>
                </a:solidFill>
                <a:latin typeface="Aptos"/>
              </a:rPr>
              <a:t>Digital Realty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669280" cy="310896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02020"/>
                </a:solidFill>
                <a:latin typeface="Aptos"/>
              </a:defRPr>
            </a:pPr>
            <a:r>
              <a:t>• Fabric Workspaces as environments</a:t>
            </a:r>
          </a:p>
          <a:p>
            <a:pPr>
              <a:spcAft>
                <a:spcPts val="800"/>
              </a:spcAft>
              <a:defRPr sz="2200">
                <a:solidFill>
                  <a:srgbClr val="202020"/>
                </a:solidFill>
                <a:latin typeface="Aptos"/>
              </a:defRPr>
            </a:pPr>
            <a:r>
              <a:t>• Git Integration for version control</a:t>
            </a:r>
          </a:p>
          <a:p>
            <a:pPr>
              <a:spcAft>
                <a:spcPts val="800"/>
              </a:spcAft>
              <a:defRPr sz="2200">
                <a:solidFill>
                  <a:srgbClr val="202020"/>
                </a:solidFill>
                <a:latin typeface="Aptos"/>
              </a:defRPr>
            </a:pPr>
            <a:r>
              <a:t>• Deployment Pipelines for promotion</a:t>
            </a:r>
          </a:p>
          <a:p>
            <a:pPr>
              <a:spcAft>
                <a:spcPts val="800"/>
              </a:spcAft>
              <a:defRPr sz="2200">
                <a:solidFill>
                  <a:srgbClr val="202020"/>
                </a:solidFill>
                <a:latin typeface="Aptos"/>
              </a:defRPr>
            </a:pPr>
            <a:r>
              <a:t>• REST APIs for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148840"/>
            <a:ext cx="3840480" cy="251460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900" b="1">
                <a:solidFill>
                  <a:srgbClr val="002050"/>
                </a:solidFill>
                <a:latin typeface="Aptos"/>
              </a:rPr>
              <a:t>Core Flow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002050"/>
                </a:solidFill>
                <a:latin typeface="Aptos"/>
              </a:rPr>
              <a:t>Dev workspace builds assets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002050"/>
                </a:solidFill>
                <a:latin typeface="Aptos"/>
              </a:rPr>
              <a:t>Git captures supported items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002050"/>
                </a:solidFill>
                <a:latin typeface="Aptos"/>
              </a:rPr>
              <a:t>Deployment pipeline promotes changes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002050"/>
                </a:solidFill>
                <a:latin typeface="Aptos"/>
              </a:rPr>
              <a:t>APIs orchestrate end-to-end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06060"/>
                </a:solidFill>
                <a:latin typeface="Aptos"/>
              </a:rPr>
              <a:t>Digital Realty — Fabric CI/CD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050"/>
                </a:solidFill>
                <a:latin typeface="Aptos"/>
              </a:rPr>
              <a:t>Environment Setup — 3 Workspaces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78D4"/>
                </a:solidFill>
                <a:latin typeface="Aptos"/>
              </a:rPr>
              <a:t>Dev → UAT → Prod with DataCenterLakehouse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471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v_lak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3749039" cy="22141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720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Aptos"/>
              </a:rPr>
              <a:t>Dev Workspace</a:t>
            </a:r>
          </a:p>
        </p:txBody>
      </p:sp>
      <p:pic>
        <p:nvPicPr>
          <p:cNvPr id="7" name="Picture 6" descr="uat_lak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508760"/>
            <a:ext cx="3749039" cy="22141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0" y="45720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Aptos"/>
              </a:rPr>
              <a:t>UAT Workspace</a:t>
            </a:r>
          </a:p>
        </p:txBody>
      </p:sp>
      <p:pic>
        <p:nvPicPr>
          <p:cNvPr id="9" name="Picture 8" descr="prod_lak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08760"/>
            <a:ext cx="3749039" cy="22141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45720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8D4"/>
                </a:solidFill>
                <a:latin typeface="Aptos"/>
              </a:rPr>
              <a:t>Prod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06060"/>
                </a:solidFill>
                <a:latin typeface="Aptos"/>
              </a:rPr>
              <a:t>Digital Realty — Fabric CI/CD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050"/>
                </a:solidFill>
                <a:latin typeface="Aptos"/>
              </a:rPr>
              <a:t>What Git Integration Tracks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471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502920"/>
          </a:xfrm>
          <a:prstGeom prst="roundRect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✅ Tracked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21408"/>
            <a:ext cx="5212080" cy="3639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67712"/>
            <a:ext cx="4937760" cy="33832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✅ Notebooks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✅ Data Pipelines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✅ Semantic Models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✅ Reports/Dashboards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✅ Spark Job Definitions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✅ ML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212080" cy="502920"/>
          </a:xfrm>
          <a:prstGeom prst="roundRect">
            <a:avLst/>
          </a:prstGeom>
          <a:solidFill>
            <a:srgbClr val="D13438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❌ Not Tracked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21408"/>
            <a:ext cx="5212080" cy="3639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267712"/>
            <a:ext cx="4937760" cy="338328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❌ Lakehouse Tables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❌ Table Schemas &amp; DDL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❌ Views &amp; Stored Procedures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❌ Data Files</a:t>
            </a:r>
          </a:p>
          <a:p>
            <a:pPr>
              <a:spcAft>
                <a:spcPts val="800"/>
              </a:spcAft>
              <a:defRPr sz="1900">
                <a:solidFill>
                  <a:srgbClr val="002050"/>
                </a:solidFill>
                <a:latin typeface="Aptos"/>
              </a:defRPr>
            </a:pPr>
            <a:r>
              <a:t>• ❌ SQL Endpoint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897880"/>
            <a:ext cx="10332720" cy="411480"/>
          </a:xfrm>
          <a:prstGeom prst="roundRect">
            <a:avLst/>
          </a:prstGeom>
          <a:solidFill>
            <a:srgbClr val="F7FBFE"/>
          </a:solidFill>
          <a:ln w="1905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00" b="0">
                <a:solidFill>
                  <a:srgbClr val="606060"/>
                </a:solidFill>
                <a:latin typeface="Aptos"/>
              </a:rPr>
              <a:t>Source: Microsoft Learn — Lakehouse Git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050"/>
                </a:solidFill>
                <a:latin typeface="Aptos"/>
              </a:rPr>
              <a:t>The Schema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471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148840"/>
            <a:ext cx="2468880" cy="132588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000" b="1">
                <a:solidFill>
                  <a:srgbClr val="002050"/>
                </a:solidFill>
                <a:latin typeface="Aptos"/>
              </a:rPr>
              <a:t>Dev Lakehouse</a:t>
            </a:r>
          </a:p>
          <a:p>
            <a:pPr algn="ctr">
              <a:spcBef>
                <a:spcPts val="200"/>
              </a:spcBef>
            </a:pPr>
            <a:r>
              <a:rPr sz="2000" b="0">
                <a:solidFill>
                  <a:srgbClr val="002050"/>
                </a:solidFill>
                <a:latin typeface="Aptos"/>
              </a:rPr>
              <a:t>Tables + schema</a:t>
            </a:r>
          </a:p>
          <a:p>
            <a:pPr algn="ctr">
              <a:spcBef>
                <a:spcPts val="200"/>
              </a:spcBef>
            </a:pPr>
            <a:r>
              <a:rPr sz="2000" b="0">
                <a:solidFill>
                  <a:srgbClr val="002050"/>
                </a:solidFill>
                <a:latin typeface="Aptos"/>
              </a:rPr>
              <a:t>Created in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2148840"/>
            <a:ext cx="2468880" cy="1325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000" b="1">
                <a:solidFill>
                  <a:srgbClr val="606060"/>
                </a:solidFill>
                <a:latin typeface="Aptos"/>
              </a:rPr>
              <a:t>Git</a:t>
            </a:r>
          </a:p>
          <a:p>
            <a:pPr algn="ctr">
              <a:spcBef>
                <a:spcPts val="200"/>
              </a:spcBef>
            </a:pPr>
            <a:r>
              <a:rPr sz="2000" b="0">
                <a:solidFill>
                  <a:srgbClr val="606060"/>
                </a:solidFill>
                <a:latin typeface="Aptos"/>
              </a:rPr>
              <a:t>Artifacts only</a:t>
            </a:r>
          </a:p>
          <a:p>
            <a:pPr algn="ctr">
              <a:spcBef>
                <a:spcPts val="200"/>
              </a:spcBef>
            </a:pPr>
            <a:r>
              <a:rPr sz="2000" b="0">
                <a:solidFill>
                  <a:srgbClr val="606060"/>
                </a:solidFill>
                <a:latin typeface="Aptos"/>
              </a:rPr>
              <a:t>No table metadata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2148840"/>
            <a:ext cx="2560320" cy="1325880"/>
          </a:xfrm>
          <a:prstGeom prst="roundRect">
            <a:avLst/>
          </a:prstGeom>
          <a:solidFill>
            <a:srgbClr val="FBFBFB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000" b="1">
                <a:solidFill>
                  <a:srgbClr val="002050"/>
                </a:solidFill>
                <a:latin typeface="Aptos"/>
              </a:rPr>
              <a:t>UAT Lakehouse</a:t>
            </a:r>
          </a:p>
          <a:p>
            <a:pPr algn="ctr">
              <a:spcBef>
                <a:spcPts val="200"/>
              </a:spcBef>
            </a:pPr>
            <a:r>
              <a:rPr sz="2000" b="0">
                <a:solidFill>
                  <a:srgbClr val="002050"/>
                </a:solidFill>
                <a:latin typeface="Aptos"/>
              </a:rPr>
              <a:t>Empty / missing tables</a:t>
            </a:r>
          </a:p>
          <a:p>
            <a:pPr algn="ctr">
              <a:spcBef>
                <a:spcPts val="200"/>
              </a:spcBef>
            </a:pPr>
            <a:r>
              <a:rPr sz="2000" b="0">
                <a:solidFill>
                  <a:srgbClr val="002050"/>
                </a:solidFill>
                <a:latin typeface="Aptos"/>
              </a:rPr>
              <a:t>Schema must be rebuilt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816352"/>
            <a:ext cx="1152144" cy="0"/>
          </a:xfrm>
          <a:prstGeom prst="line">
            <a:avLst/>
          </a:prstGeom>
          <a:ln w="317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4407408" y="2734056"/>
            <a:ext cx="164592" cy="164592"/>
          </a:xfrm>
          <a:prstGeom prst="triangle">
            <a:avLst/>
          </a:prstGeom>
          <a:solidFill>
            <a:srgbClr val="0078D4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086600" y="2816352"/>
            <a:ext cx="1106424" cy="0"/>
          </a:xfrm>
          <a:prstGeom prst="line">
            <a:avLst/>
          </a:prstGeom>
          <a:ln w="31750">
            <a:solidFill>
              <a:srgbClr val="D13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8110728" y="2734056"/>
            <a:ext cx="164592" cy="164592"/>
          </a:xfrm>
          <a:prstGeom prst="triangle">
            <a:avLst/>
          </a:prstGeom>
          <a:solidFill>
            <a:srgbClr val="D13438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6903720" y="1691640"/>
            <a:ext cx="1051560" cy="685800"/>
          </a:xfrm>
          <a:prstGeom prst="hexagon">
            <a:avLst/>
          </a:prstGeom>
          <a:solidFill>
            <a:srgbClr val="FEF0F1"/>
          </a:solidFill>
          <a:ln w="254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000" b="1">
                <a:solidFill>
                  <a:srgbClr val="D13438"/>
                </a:solidFill>
                <a:latin typeface="Aptos"/>
              </a:rPr>
              <a:t>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114800"/>
            <a:ext cx="10012680" cy="1051560"/>
          </a:xfrm>
          <a:prstGeom prst="roundRect">
            <a:avLst/>
          </a:prstGeom>
          <a:solidFill>
            <a:srgbClr val="FEF0F1"/>
          </a:solidFill>
          <a:ln w="1905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400" b="1">
                <a:solidFill>
                  <a:srgbClr val="D13438"/>
                </a:solidFill>
                <a:latin typeface="Aptos"/>
              </a:rPr>
              <a:t>Schema changes made in Dev Lakehouse do NOT propagate through Git or Deployment Pipelines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39496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06060"/>
                </a:solidFill>
                <a:latin typeface="Aptos"/>
              </a:rPr>
              <a:t>Result: promoted environments receive notebooks and pipelines, but not the underlying lakehouse schema.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050"/>
                </a:solidFill>
                <a:latin typeface="Aptos"/>
              </a:rPr>
              <a:t>The Solution — Schema-as-Code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471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240280" cy="10058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900" b="1">
                <a:solidFill>
                  <a:srgbClr val="606060"/>
                </a:solidFill>
                <a:latin typeface="Aptos"/>
              </a:rPr>
              <a:t>Migration Scripts in Git</a:t>
            </a:r>
          </a:p>
          <a:p>
            <a:pPr algn="ctr">
              <a:spcBef>
                <a:spcPts val="200"/>
              </a:spcBef>
            </a:pPr>
            <a:r>
              <a:rPr sz="1900" b="0">
                <a:solidFill>
                  <a:srgbClr val="606060"/>
                </a:solidFill>
                <a:latin typeface="Aptos"/>
              </a:rPr>
              <a:t>SQL + PySpark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00200"/>
            <a:ext cx="2240280" cy="1005840"/>
          </a:xfrm>
          <a:prstGeom prst="roundRect">
            <a:avLst/>
          </a:prstGeom>
          <a:solidFill>
            <a:srgbClr val="E7F4E4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900" b="1">
                <a:solidFill>
                  <a:srgbClr val="107C10"/>
                </a:solidFill>
                <a:latin typeface="Aptos"/>
              </a:rPr>
              <a:t>CI/CD Pipeline</a:t>
            </a:r>
          </a:p>
          <a:p>
            <a:pPr algn="ctr">
              <a:spcBef>
                <a:spcPts val="200"/>
              </a:spcBef>
            </a:pPr>
            <a:r>
              <a:rPr sz="1900" b="0">
                <a:solidFill>
                  <a:srgbClr val="107C10"/>
                </a:solidFill>
                <a:latin typeface="Aptos"/>
              </a:rPr>
              <a:t>GitHub Actions / Azure DevOps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600200"/>
            <a:ext cx="2331720" cy="100584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900" b="1">
                <a:solidFill>
                  <a:srgbClr val="002050"/>
                </a:solidFill>
                <a:latin typeface="Aptos"/>
              </a:rPr>
              <a:t>Migration Runner Notebook</a:t>
            </a:r>
          </a:p>
          <a:p>
            <a:pPr algn="ctr">
              <a:spcBef>
                <a:spcPts val="200"/>
              </a:spcBef>
            </a:pPr>
            <a:r>
              <a:rPr sz="1900" b="0">
                <a:solidFill>
                  <a:srgbClr val="002050"/>
                </a:solidFill>
                <a:latin typeface="Aptos"/>
              </a:rPr>
              <a:t>Idempotent execution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417320"/>
            <a:ext cx="2651760" cy="1371600"/>
          </a:xfrm>
          <a:prstGeom prst="roundRect">
            <a:avLst/>
          </a:prstGeom>
          <a:solidFill>
            <a:srgbClr val="F3FBF3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900" b="1">
                <a:solidFill>
                  <a:srgbClr val="107C10"/>
                </a:solidFill>
                <a:latin typeface="Aptos"/>
              </a:rPr>
              <a:t>Dev / UAT / Prod</a:t>
            </a:r>
          </a:p>
          <a:p>
            <a:pPr algn="ctr">
              <a:spcBef>
                <a:spcPts val="200"/>
              </a:spcBef>
            </a:pPr>
            <a:r>
              <a:rPr sz="1900" b="0">
                <a:solidFill>
                  <a:srgbClr val="107C10"/>
                </a:solidFill>
                <a:latin typeface="Aptos"/>
              </a:rPr>
              <a:t>Lakehouse schema applied</a:t>
            </a:r>
          </a:p>
          <a:p>
            <a:pPr algn="ctr">
              <a:spcBef>
                <a:spcPts val="200"/>
              </a:spcBef>
            </a:pPr>
            <a:r>
              <a:rPr sz="1900" b="0">
                <a:solidFill>
                  <a:srgbClr val="107C10"/>
                </a:solidFill>
                <a:latin typeface="Aptos"/>
              </a:rPr>
              <a:t>History recorded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103120"/>
            <a:ext cx="237744" cy="0"/>
          </a:xfrm>
          <a:prstGeom prst="line">
            <a:avLst/>
          </a:prstGeom>
          <a:ln w="3175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3081528" y="2020824"/>
            <a:ext cx="164592" cy="164592"/>
          </a:xfrm>
          <a:prstGeom prst="triangle">
            <a:avLst/>
          </a:prstGeom>
          <a:solidFill>
            <a:srgbClr val="107C10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532120" y="2103120"/>
            <a:ext cx="237744" cy="0"/>
          </a:xfrm>
          <a:prstGeom prst="line">
            <a:avLst/>
          </a:prstGeom>
          <a:ln w="3175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5687568" y="2020824"/>
            <a:ext cx="164592" cy="164592"/>
          </a:xfrm>
          <a:prstGeom prst="triangle">
            <a:avLst/>
          </a:prstGeom>
          <a:solidFill>
            <a:srgbClr val="107C10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0" y="2103120"/>
            <a:ext cx="237744" cy="0"/>
          </a:xfrm>
          <a:prstGeom prst="line">
            <a:avLst/>
          </a:prstGeom>
          <a:ln w="3175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8385048" y="2020824"/>
            <a:ext cx="164592" cy="164592"/>
          </a:xfrm>
          <a:prstGeom prst="triangle">
            <a:avLst/>
          </a:prstGeom>
          <a:solidFill>
            <a:srgbClr val="107C10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154680"/>
            <a:ext cx="103784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01568"/>
            <a:ext cx="9921240" cy="196596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• Version-controlled SQL &amp; PySpark migration scripts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• Idempotent migration runner notebook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• Automated CI/CD pipeline (Azure DevOps or GitHub Actions)</a:t>
            </a:r>
          </a:p>
          <a:p>
            <a:pPr>
              <a:spcAft>
                <a:spcPts val="800"/>
              </a:spcAft>
              <a:defRPr sz="2000">
                <a:solidFill>
                  <a:srgbClr val="202020"/>
                </a:solidFill>
                <a:latin typeface="Aptos"/>
              </a:defRPr>
            </a:pPr>
            <a:r>
              <a:t>• Audit trail via _migration_history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050"/>
                </a:solidFill>
                <a:latin typeface="Aptos"/>
              </a:rPr>
              <a:t>Deployment Pipeline — Dev → UAT → Prod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78D4"/>
                </a:solidFill>
                <a:latin typeface="Aptos"/>
              </a:rPr>
              <a:t>DigitalRealty-Pipeline with all stages configured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87552"/>
            <a:ext cx="112471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ployment_pipeline_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698480" cy="63183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6035040"/>
            <a:ext cx="10332720" cy="457200"/>
          </a:xfrm>
          <a:prstGeom prst="roundRect">
            <a:avLst/>
          </a:prstGeom>
          <a:solidFill>
            <a:srgbClr val="F2F8FC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0">
                <a:solidFill>
                  <a:srgbClr val="002050"/>
                </a:solidFill>
                <a:latin typeface="Aptos"/>
              </a:rPr>
              <a:t>Pipeline deploys supported artifacts • Schema requires Schema-as-Code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06060"/>
                </a:solidFill>
                <a:latin typeface="Aptos"/>
              </a:rPr>
              <a:t>Digital Realty — Fabric CI/CD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050"/>
                </a:solidFill>
                <a:latin typeface="Aptos"/>
              </a:rPr>
              <a:t>Demo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4712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9875520" cy="4160520"/>
          </a:xfrm>
          <a:prstGeom prst="rect">
            <a:avLst/>
          </a:prstGeom>
          <a:noFill/>
        </p:spPr>
        <p:txBody>
          <a:bodyPr wrap="square" lIns="76200" rIns="7620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02050"/>
                </a:solidFill>
                <a:latin typeface="Aptos"/>
              </a:defRPr>
            </a:pPr>
            <a:r>
              <a:t>• 1. Environment Setup (3 workspaces + Deployment Pipeline)</a:t>
            </a:r>
          </a:p>
          <a:p>
            <a:pPr>
              <a:spcAft>
                <a:spcPts val="800"/>
              </a:spcAft>
              <a:defRPr sz="2100">
                <a:solidFill>
                  <a:srgbClr val="002050"/>
                </a:solidFill>
                <a:latin typeface="Aptos"/>
              </a:defRPr>
            </a:pPr>
            <a:r>
              <a:t>• 2. Standard CI/CD Flow (notebooks through Git)</a:t>
            </a:r>
          </a:p>
          <a:p>
            <a:pPr>
              <a:spcAft>
                <a:spcPts val="800"/>
              </a:spcAft>
              <a:defRPr sz="2100">
                <a:solidFill>
                  <a:srgbClr val="002050"/>
                </a:solidFill>
                <a:latin typeface="Aptos"/>
              </a:defRPr>
            </a:pPr>
            <a:r>
              <a:t>• 3. The Problem (tables don't propagate)</a:t>
            </a:r>
          </a:p>
          <a:p>
            <a:pPr>
              <a:spcAft>
                <a:spcPts val="800"/>
              </a:spcAft>
              <a:defRPr sz="2100">
                <a:solidFill>
                  <a:srgbClr val="002050"/>
                </a:solidFill>
                <a:latin typeface="Aptos"/>
              </a:defRPr>
            </a:pPr>
            <a:r>
              <a:t>• 4. Schema-as-Code Solution (migration scripts + runner)</a:t>
            </a:r>
          </a:p>
          <a:p>
            <a:pPr>
              <a:spcAft>
                <a:spcPts val="800"/>
              </a:spcAft>
              <a:defRPr sz="2100">
                <a:solidFill>
                  <a:srgbClr val="002050"/>
                </a:solidFill>
                <a:latin typeface="Aptos"/>
              </a:defRPr>
            </a:pPr>
            <a:r>
              <a:t>• 5. CI/CD Pipeline Automation (Azure DevOps + GitHub Actions)</a:t>
            </a:r>
          </a:p>
          <a:p>
            <a:pPr>
              <a:spcAft>
                <a:spcPts val="800"/>
              </a:spcAft>
              <a:defRPr sz="2100">
                <a:solidFill>
                  <a:srgbClr val="002050"/>
                </a:solidFill>
                <a:latin typeface="Aptos"/>
              </a:defRPr>
            </a:pPr>
            <a:r>
              <a:t>• 6. REST API Deep Dive (live API calls)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5532120"/>
            <a:ext cx="3657600" cy="685800"/>
          </a:xfrm>
          <a:prstGeom prst="roundRect">
            <a:avLst/>
          </a:prstGeom>
          <a:solidFill>
            <a:srgbClr val="50E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200" b="1">
                <a:solidFill>
                  <a:srgbClr val="002050"/>
                </a:solidFill>
                <a:latin typeface="Aptos"/>
              </a:rPr>
              <a:t>Let's see it in action!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 CI/CD Demo</dc:title>
  <dc:subject>Microsoft Fabric SDLC &amp; CI/CD Overview</dc:subject>
  <dc:creator>GitHub Copilot CLI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